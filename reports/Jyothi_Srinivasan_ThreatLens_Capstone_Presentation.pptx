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94360"/>
            <a:ext cx="70408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8489"/>
                </a:solidFill>
                <a:latin typeface="Aptos"/>
              </a:rPr>
              <a:t>CAPSTONE PROJECT  |  CYBER THREAT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786384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200" b="1">
                <a:solidFill>
                  <a:srgbClr val="122A4A"/>
                </a:solidFill>
                <a:latin typeface="Aptos"/>
              </a:rPr>
              <a:t>ThreatLens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73152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>
                <a:solidFill>
                  <a:srgbClr val="263342"/>
                </a:solidFill>
                <a:latin typeface="Aptos"/>
              </a:rPr>
              <a:t>GenAI-Powered OSINT Threat Intelligence for BFSI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218688"/>
            <a:ext cx="1097280" cy="5486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72237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45684"/>
                </a:solidFill>
                <a:latin typeface="Aptos"/>
              </a:rPr>
              <a:t>CYRA: AI-Driven Threat Detection and Risk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7040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D6D7E"/>
                </a:solidFill>
                <a:latin typeface="Aptos"/>
              </a:rPr>
              <a:t>Individual capstone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68112"/>
            <a:ext cx="7040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D6D7E"/>
                </a:solidFill>
                <a:latin typeface="Aptos"/>
              </a:rPr>
              <a:t>18 October 2026  •  Evidence-based prototype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005840"/>
            <a:ext cx="2468880" cy="4389120"/>
          </a:xfrm>
          <a:prstGeom prst="roundRect">
            <a:avLst/>
          </a:prstGeom>
          <a:solidFill>
            <a:srgbClr val="EF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006840" y="1554480"/>
            <a:ext cx="1371600" cy="137160"/>
          </a:xfrm>
          <a:prstGeom prst="line">
            <a:avLst/>
          </a:prstGeom>
          <a:ln w="20320">
            <a:solidFill>
              <a:srgbClr val="A6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006840" y="1554480"/>
            <a:ext cx="640080" cy="960120"/>
          </a:xfrm>
          <a:prstGeom prst="line">
            <a:avLst/>
          </a:prstGeom>
          <a:ln w="20320">
            <a:solidFill>
              <a:srgbClr val="A6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9646920" y="1691640"/>
            <a:ext cx="731520" cy="822960"/>
          </a:xfrm>
          <a:prstGeom prst="line">
            <a:avLst/>
          </a:prstGeom>
          <a:ln w="20320">
            <a:solidFill>
              <a:srgbClr val="A6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9052560" y="2514600"/>
            <a:ext cx="594360" cy="960120"/>
          </a:xfrm>
          <a:prstGeom prst="line">
            <a:avLst/>
          </a:prstGeom>
          <a:ln w="20320">
            <a:solidFill>
              <a:srgbClr val="A6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46920" y="2514600"/>
            <a:ext cx="868680" cy="1188720"/>
          </a:xfrm>
          <a:prstGeom prst="line">
            <a:avLst/>
          </a:prstGeom>
          <a:ln w="20320">
            <a:solidFill>
              <a:srgbClr val="A6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052560" y="3474720"/>
            <a:ext cx="685800" cy="1143000"/>
          </a:xfrm>
          <a:prstGeom prst="line">
            <a:avLst/>
          </a:prstGeom>
          <a:ln w="20320">
            <a:solidFill>
              <a:srgbClr val="A6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9738360" y="3703320"/>
            <a:ext cx="777240" cy="914400"/>
          </a:xfrm>
          <a:prstGeom prst="line">
            <a:avLst/>
          </a:prstGeom>
          <a:ln w="20320">
            <a:solidFill>
              <a:srgbClr val="A6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897112" y="1444752"/>
            <a:ext cx="219456" cy="219456"/>
          </a:xfrm>
          <a:prstGeom prst="ellipse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68712" y="1581912"/>
            <a:ext cx="219456" cy="219456"/>
          </a:xfrm>
          <a:prstGeom prst="ellipse">
            <a:avLst/>
          </a:prstGeom>
          <a:solidFill>
            <a:srgbClr val="245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537192" y="2404872"/>
            <a:ext cx="219456" cy="219456"/>
          </a:xfrm>
          <a:prstGeom prst="ellipse">
            <a:avLst/>
          </a:prstGeom>
          <a:solidFill>
            <a:srgbClr val="BF7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42832" y="3364991"/>
            <a:ext cx="219456" cy="219456"/>
          </a:xfrm>
          <a:prstGeom prst="ellipse">
            <a:avLst/>
          </a:prstGeom>
          <a:solidFill>
            <a:srgbClr val="245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405872" y="3593591"/>
            <a:ext cx="219456" cy="219456"/>
          </a:xfrm>
          <a:prstGeom prst="ellipse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8632" y="4507992"/>
            <a:ext cx="219456" cy="219456"/>
          </a:xfrm>
          <a:prstGeom prst="ellipse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23960" y="5623560"/>
            <a:ext cx="2194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22A4A"/>
                </a:solidFill>
                <a:latin typeface="Aptos"/>
              </a:rPr>
              <a:t>BFSI • OSINT • CTI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263640"/>
            <a:ext cx="7315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6D7E"/>
                </a:solidFill>
                <a:latin typeface="Aptos"/>
              </a:rPr>
              <a:t>Public sources • Local GenAI • Controlled defensive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28600"/>
            <a:ext cx="7772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8489"/>
                </a:solidFill>
                <a:latin typeface="Aptos"/>
              </a:rPr>
              <a:t>01 |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21207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22A4A"/>
                </a:solidFill>
                <a:latin typeface="Aptos"/>
              </a:rPr>
              <a:t>A traceable workflow from public reporting to analyst-ready outputs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27080" cy="16459"/>
          </a:xfrm>
          <a:prstGeom prst="rect">
            <a:avLst/>
          </a:prstGeom>
          <a:solidFill>
            <a:srgbClr val="D3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D6D7E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08489"/>
                </a:solidFill>
                <a:latin typeface="Aptos"/>
              </a:rPr>
              <a:t>Project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22A4A"/>
                </a:solidFill>
                <a:latin typeface="Aptos"/>
              </a:rPr>
              <a:t>Build an educational cyber-threat-intelligence pipeline focused on banking, digital payments, ransomware, DDoS and exploited vulnerabilities.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803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64008" cy="141732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999232"/>
            <a:ext cx="304495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22A4A"/>
                </a:solidFill>
                <a:latin typeface="Aptos"/>
              </a:rPr>
              <a:t>COLLECT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392424"/>
            <a:ext cx="3044952" cy="8138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D6D7E"/>
                </a:solidFill>
                <a:latin typeface="Aptos"/>
              </a:rPr>
              <a:t>Public advisories, RSS, OTX pulses and campaign IOC material.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28803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2880360"/>
            <a:ext cx="64008" cy="1417320"/>
          </a:xfrm>
          <a:prstGeom prst="rect">
            <a:avLst/>
          </a:prstGeom>
          <a:solidFill>
            <a:srgbClr val="245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999232"/>
            <a:ext cx="304495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22A4A"/>
                </a:solidFill>
                <a:latin typeface="Aptos"/>
              </a:rPr>
              <a:t>ANALYSE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392424"/>
            <a:ext cx="3044952" cy="8138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D6D7E"/>
                </a:solidFill>
                <a:latin typeface="Aptos"/>
              </a:rPr>
              <a:t>Normalize, deduplicate, enrich, extract entities and map behavior.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88036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2880360"/>
            <a:ext cx="64008" cy="1417320"/>
          </a:xfrm>
          <a:prstGeom prst="rect">
            <a:avLst/>
          </a:prstGeom>
          <a:solidFill>
            <a:srgbClr val="BF7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2999232"/>
            <a:ext cx="304495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22A4A"/>
                </a:solidFill>
                <a:latin typeface="Aptos"/>
              </a:rPr>
              <a:t>DISSEMINATE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3392424"/>
            <a:ext cx="3044952" cy="8138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D6D7E"/>
                </a:solidFill>
                <a:latin typeface="Aptos"/>
              </a:rPr>
              <a:t>MISP, STIX 2.1, Sigma/Splunk, Wazuh and weekly brief.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0060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965192"/>
            <a:ext cx="101955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63342"/>
                </a:solidFill>
                <a:latin typeface="Aptos"/>
              </a:rPr>
              <a:t>Evaluation principle: candidate indicators, model outputs and synthetic tests are clearly distinguished from independently verified threat facts.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28600"/>
            <a:ext cx="7772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8489"/>
                </a:solidFill>
                <a:latin typeface="Aptos"/>
              </a:rPr>
              <a:t>02 | INTELLIGENCE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21207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22A4A"/>
                </a:solidFill>
                <a:latin typeface="Aptos"/>
              </a:rPr>
              <a:t>Five priority questions shape the collection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27080" cy="16459"/>
          </a:xfrm>
          <a:prstGeom prst="rect">
            <a:avLst/>
          </a:prstGeom>
          <a:solidFill>
            <a:srgbClr val="D3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D6D7E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10561320" cy="621792"/>
          </a:xfrm>
          <a:prstGeom prst="roundRect">
            <a:avLst/>
          </a:prstGeom>
          <a:solidFill>
            <a:srgbClr val="EFF4F8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536192"/>
            <a:ext cx="11430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489"/>
                </a:solidFill>
                <a:latin typeface="Aptos"/>
              </a:rPr>
              <a:t>PIR-01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527048"/>
            <a:ext cx="65836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22A4A"/>
                </a:solidFill>
                <a:latin typeface="Aptos"/>
              </a:rPr>
              <a:t>Banking malware (ATM / SWIFT)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1554480"/>
            <a:ext cx="1417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008489"/>
                </a:solidFill>
                <a:latin typeface="Aptos"/>
              </a:rPr>
              <a:t>HIGH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21992"/>
            <a:ext cx="105613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340864"/>
            <a:ext cx="11430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489"/>
                </a:solidFill>
                <a:latin typeface="Aptos"/>
              </a:rPr>
              <a:t>PIR-02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331720"/>
            <a:ext cx="65836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22A4A"/>
                </a:solidFill>
                <a:latin typeface="Aptos"/>
              </a:rPr>
              <a:t>UPI and digital-payment threats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2359152"/>
            <a:ext cx="1417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008489"/>
                </a:solidFill>
                <a:latin typeface="Aptos"/>
              </a:rPr>
              <a:t>HIGH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26664"/>
            <a:ext cx="10561320" cy="621792"/>
          </a:xfrm>
          <a:prstGeom prst="roundRect">
            <a:avLst/>
          </a:prstGeom>
          <a:solidFill>
            <a:srgbClr val="EFF4F8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145536"/>
            <a:ext cx="11430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489"/>
                </a:solidFill>
                <a:latin typeface="Aptos"/>
              </a:rPr>
              <a:t>PIR-03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136392"/>
            <a:ext cx="65836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22A4A"/>
                </a:solidFill>
                <a:latin typeface="Aptos"/>
              </a:rPr>
              <a:t>Ransomware and data theft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3163824"/>
            <a:ext cx="1417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008489"/>
                </a:solidFill>
                <a:latin typeface="Aptos"/>
              </a:rPr>
              <a:t>HIGH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831336"/>
            <a:ext cx="105613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950208"/>
            <a:ext cx="11430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BF7E19"/>
                </a:solidFill>
                <a:latin typeface="Aptos"/>
              </a:rPr>
              <a:t>PIR-04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941064"/>
            <a:ext cx="65836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22A4A"/>
                </a:solidFill>
                <a:latin typeface="Aptos"/>
              </a:rPr>
              <a:t>DDoS and hacktivism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3968496"/>
            <a:ext cx="1417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BF7E19"/>
                </a:solidFill>
                <a:latin typeface="Aptos"/>
              </a:rPr>
              <a:t>MEDIUM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636008"/>
            <a:ext cx="10561320" cy="621792"/>
          </a:xfrm>
          <a:prstGeom prst="roundRect">
            <a:avLst/>
          </a:prstGeom>
          <a:solidFill>
            <a:srgbClr val="EFF4F8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754880"/>
            <a:ext cx="11430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489"/>
                </a:solidFill>
                <a:latin typeface="Aptos"/>
              </a:rPr>
              <a:t>PIR-05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4745736"/>
            <a:ext cx="65836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22A4A"/>
                </a:solidFill>
                <a:latin typeface="Aptos"/>
              </a:rPr>
              <a:t>Exploited vulnerabilities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4773168"/>
            <a:ext cx="1417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008489"/>
                </a:solidFill>
                <a:latin typeface="Aptos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760720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D6D7E"/>
                </a:solidFill>
                <a:latin typeface="Aptos"/>
              </a:rPr>
              <a:t>Collection coverage is bounded; the available sample does not answer every PIR equally.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28600"/>
            <a:ext cx="7772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8489"/>
                </a:solidFill>
                <a:latin typeface="Aptos"/>
              </a:rPr>
              <a:t>03 |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21207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22A4A"/>
                </a:solidFill>
                <a:latin typeface="Aptos"/>
              </a:rPr>
              <a:t>CTI lifecycle with provenance and analyst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27080" cy="16459"/>
          </a:xfrm>
          <a:prstGeom prst="rect">
            <a:avLst/>
          </a:prstGeom>
          <a:solidFill>
            <a:srgbClr val="D3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D6D7E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4015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08760"/>
            <a:ext cx="3401568" cy="82296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91639"/>
            <a:ext cx="3017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8489"/>
                </a:solidFill>
                <a:latin typeface="Aptos"/>
              </a:rPr>
              <a:t>DIRECTION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011680"/>
            <a:ext cx="301752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22A4A"/>
                </a:solidFill>
                <a:latin typeface="Aptos"/>
              </a:rPr>
              <a:t>5 BFSI PIRs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1508760"/>
            <a:ext cx="34015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98848" y="1508760"/>
            <a:ext cx="3401568" cy="82296"/>
          </a:xfrm>
          <a:prstGeom prst="rect">
            <a:avLst/>
          </a:prstGeom>
          <a:solidFill>
            <a:srgbClr val="245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91639"/>
            <a:ext cx="3017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45684"/>
                </a:solidFill>
                <a:latin typeface="Aptos"/>
              </a:rPr>
              <a:t>COLLECT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301752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22A4A"/>
                </a:solidFill>
                <a:latin typeface="Aptos"/>
              </a:rPr>
              <a:t>CERT-In • CIS • Talos • OTX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39328" y="1508760"/>
            <a:ext cx="34015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39328" y="1508760"/>
            <a:ext cx="3401568" cy="82296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691639"/>
            <a:ext cx="3017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8489"/>
                </a:solidFill>
                <a:latin typeface="Aptos"/>
              </a:rPr>
              <a:t>NORMALIZE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011680"/>
            <a:ext cx="301752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22A4A"/>
                </a:solidFill>
                <a:latin typeface="Aptos"/>
              </a:rPr>
              <a:t>Parse • canonicalize • deduplicate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154680"/>
            <a:ext cx="34015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154680"/>
            <a:ext cx="3401568" cy="82296"/>
          </a:xfrm>
          <a:prstGeom prst="rect">
            <a:avLst/>
          </a:prstGeom>
          <a:solidFill>
            <a:srgbClr val="BF7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3337560"/>
            <a:ext cx="3017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F7E19"/>
                </a:solidFill>
                <a:latin typeface="Aptos"/>
              </a:rPr>
              <a:t>ENRICH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3657600"/>
            <a:ext cx="301752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22A4A"/>
                </a:solidFill>
                <a:latin typeface="Aptos"/>
              </a:rPr>
              <a:t>Selected VT / URLScan lookups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98848" y="3154680"/>
            <a:ext cx="34015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98848" y="3154680"/>
            <a:ext cx="3401568" cy="82296"/>
          </a:xfrm>
          <a:prstGeom prst="rect">
            <a:avLst/>
          </a:prstGeom>
          <a:solidFill>
            <a:srgbClr val="245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337560"/>
            <a:ext cx="3017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45684"/>
                </a:solidFill>
                <a:latin typeface="Aptos"/>
              </a:rPr>
              <a:t>ANALYSE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657600"/>
            <a:ext cx="301752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22A4A"/>
                </a:solidFill>
                <a:latin typeface="Aptos"/>
              </a:rPr>
              <a:t>NLP • ATT&amp;CK • Diamond • RAG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39328" y="3154680"/>
            <a:ext cx="34015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39328" y="3154680"/>
            <a:ext cx="3401568" cy="82296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3337560"/>
            <a:ext cx="3017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8489"/>
                </a:solidFill>
                <a:latin typeface="Aptos"/>
              </a:rPr>
              <a:t>DISSEMINATE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657600"/>
            <a:ext cx="301752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22A4A"/>
                </a:solidFill>
                <a:latin typeface="Aptos"/>
              </a:rPr>
              <a:t>MISP • STIX • Sigma • brief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51376" y="1828800"/>
            <a:ext cx="182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489"/>
                </a:solidFill>
                <a:latin typeface="Aptos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6" y="1828800"/>
            <a:ext cx="182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8489"/>
                </a:solidFill>
                <a:latin typeface="Aptos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16636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263342"/>
                </a:solidFill>
                <a:latin typeface="Aptos"/>
              </a:rPr>
              <a:t>Analyst review remains the decision point. Every indicator should retain source context, verification status and collection limitations.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28600"/>
            <a:ext cx="7772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8489"/>
                </a:solidFill>
                <a:latin typeface="Aptos"/>
              </a:rPr>
              <a:t>04 | COLLECTION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21207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22A4A"/>
                </a:solidFill>
                <a:latin typeface="Aptos"/>
              </a:rPr>
              <a:t>Four source groups; bounded, source-preserving collection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27080" cy="16459"/>
          </a:xfrm>
          <a:prstGeom prst="rect">
            <a:avLst/>
          </a:prstGeom>
          <a:solidFill>
            <a:srgbClr val="D3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D6D7E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578608" cy="1234440"/>
          </a:xfrm>
          <a:prstGeom prst="roundRect">
            <a:avLst/>
          </a:prstGeom>
          <a:solidFill>
            <a:srgbClr val="EFF4F8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664208"/>
            <a:ext cx="235915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489"/>
                </a:solidFill>
                <a:latin typeface="Aptos"/>
              </a:rP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212848"/>
            <a:ext cx="235915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22A4A"/>
                </a:solidFill>
                <a:latin typeface="Aptos"/>
              </a:rPr>
              <a:t>CERT-In advisories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84448" y="1508760"/>
            <a:ext cx="2578608" cy="1234440"/>
          </a:xfrm>
          <a:prstGeom prst="roundRect">
            <a:avLst/>
          </a:prstGeom>
          <a:solidFill>
            <a:srgbClr val="EFF4F8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94176" y="1664208"/>
            <a:ext cx="235915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245684"/>
                </a:solidFill>
                <a:latin typeface="Aptos"/>
              </a:rPr>
              <a:t>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94176" y="2212848"/>
            <a:ext cx="235915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22A4A"/>
                </a:solidFill>
                <a:latin typeface="Aptos"/>
              </a:rPr>
              <a:t>Combined RSS entries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37376" y="1508760"/>
            <a:ext cx="2578608" cy="1234440"/>
          </a:xfrm>
          <a:prstGeom prst="roundRect">
            <a:avLst/>
          </a:prstGeom>
          <a:solidFill>
            <a:srgbClr val="EFF4F8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4" y="1664208"/>
            <a:ext cx="235915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BF7E19"/>
                </a:solidFill>
                <a:latin typeface="Aptos"/>
              </a:rPr>
              <a:t>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212848"/>
            <a:ext cx="235915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22A4A"/>
                </a:solidFill>
                <a:latin typeface="Aptos"/>
              </a:rPr>
              <a:t>OTX pulses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90304" y="1508760"/>
            <a:ext cx="2578608" cy="1234440"/>
          </a:xfrm>
          <a:prstGeom prst="roundRect">
            <a:avLst/>
          </a:prstGeom>
          <a:solidFill>
            <a:srgbClr val="EFF4F8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00032" y="1664208"/>
            <a:ext cx="235915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08489"/>
                </a:solidFill>
                <a:latin typeface="Aptos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0032" y="2212848"/>
            <a:ext cx="235915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22A4A"/>
                </a:solidFill>
                <a:latin typeface="Aptos"/>
              </a:rPr>
              <a:t>Talos case-study entries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154680"/>
            <a:ext cx="5074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64992"/>
            <a:ext cx="4663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08489"/>
                </a:solidFill>
                <a:latin typeface="Aptos"/>
              </a:rPr>
              <a:t>6,655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767328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D6D7E"/>
                </a:solidFill>
                <a:latin typeface="Aptos"/>
              </a:rPr>
              <a:t>Unified candidate records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154680"/>
            <a:ext cx="5074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364992"/>
            <a:ext cx="4663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245684"/>
                </a:solidFill>
                <a:latin typeface="Aptos"/>
              </a:rPr>
              <a:t>6,411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767328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D6D7E"/>
                </a:solidFill>
                <a:latin typeface="Aptos"/>
              </a:rPr>
              <a:t>Distinct canonical type/value pairs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709160"/>
            <a:ext cx="1024128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7E"/>
                </a:solidFill>
                <a:latin typeface="Aptos"/>
              </a:defRPr>
            </a:pPr>
            <a:r>
              <a:t>•  OTX count covers the first 20 pages (200 pulses), not the entire available collection.</a:t>
            </a:r>
          </a:p>
          <a:p>
            <a:pPr>
              <a:spcAft>
                <a:spcPts val="500"/>
              </a:spcAft>
              <a:defRPr sz="1300">
                <a:solidFill>
                  <a:srgbClr val="5D6D7E"/>
                </a:solidFill>
                <a:latin typeface="Aptos"/>
              </a:defRPr>
            </a:pPr>
            <a:r>
              <a:t>•  Candidate totals include CVEs and potentially legitimate references; not every record is a confirmed malicious IoC.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28600"/>
            <a:ext cx="7772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8489"/>
                </a:solidFill>
                <a:latin typeface="Aptos"/>
              </a:rPr>
              <a:t>05 | PLATFORM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21207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22A4A"/>
                </a:solidFill>
                <a:latin typeface="Aptos"/>
              </a:rPr>
              <a:t>MISP population verified with a read-only paginated audit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27080" cy="16459"/>
          </a:xfrm>
          <a:prstGeom prst="rect">
            <a:avLst/>
          </a:prstGeom>
          <a:solidFill>
            <a:srgbClr val="D3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D6D7E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2971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008489"/>
                </a:solidFill>
                <a:latin typeface="Aptos"/>
              </a:rPr>
              <a:t>160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04288"/>
            <a:ext cx="2971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22A4A"/>
                </a:solidFill>
                <a:latin typeface="Aptos"/>
              </a:rPr>
              <a:t>Attributes retrieved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33472"/>
            <a:ext cx="2971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D6D7E"/>
                </a:solidFill>
                <a:latin typeface="Aptos"/>
              </a:rPr>
              <a:t>100 on page 1 + 60 on page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810512"/>
            <a:ext cx="2971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245684"/>
                </a:solidFill>
                <a:latin typeface="Aptos"/>
              </a:rPr>
              <a:t>160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304288"/>
            <a:ext cx="2971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22A4A"/>
                </a:solidFill>
                <a:latin typeface="Aptos"/>
              </a:rPr>
              <a:t>Unique pairs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633472"/>
            <a:ext cx="2971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D6D7E"/>
                </a:solidFill>
                <a:latin typeface="Aptos"/>
              </a:rPr>
              <a:t>Normalized type/value pairs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810512"/>
            <a:ext cx="29718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BF7E19"/>
                </a:solidFill>
                <a:latin typeface="Aptos"/>
              </a:rPr>
              <a:t>150/150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304288"/>
            <a:ext cx="2971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22A4A"/>
                </a:solidFill>
                <a:latin typeface="Aptos"/>
              </a:rPr>
              <a:t>Pilot pairs found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633472"/>
            <a:ext cx="2971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D6D7E"/>
                </a:solidFill>
                <a:latin typeface="Aptos"/>
              </a:rPr>
              <a:t>Zero missing in 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520440"/>
            <a:ext cx="10241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08489"/>
                </a:solidFill>
                <a:latin typeface="Aptos"/>
              </a:rPr>
              <a:t>Interpretation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977639"/>
            <a:ext cx="10241280" cy="1508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63342"/>
                </a:solidFill>
                <a:latin typeface="Aptos"/>
              </a:defRPr>
            </a:pPr>
            <a:r>
              <a:t>•  Three MISP events were reported by the event inspection.</a:t>
            </a:r>
          </a:p>
          <a:p>
            <a:pPr>
              <a:spcAft>
                <a:spcPts val="900"/>
              </a:spcAft>
              <a:defRPr sz="1500">
                <a:solidFill>
                  <a:srgbClr val="263342"/>
                </a:solidFill>
                <a:latin typeface="Aptos"/>
              </a:defRPr>
            </a:pPr>
            <a:r>
              <a:t>•  The audit did not create, modify or delete any events or attributes.</a:t>
            </a:r>
          </a:p>
          <a:p>
            <a:pPr>
              <a:spcAft>
                <a:spcPts val="900"/>
              </a:spcAft>
              <a:defRPr sz="1500">
                <a:solidFill>
                  <a:srgbClr val="263342"/>
                </a:solidFill>
                <a:latin typeface="Aptos"/>
              </a:defRPr>
            </a:pPr>
            <a:r>
              <a:t>•  Presence and uniqueness do not establish maliciousness; candidate records remain unverified unless corroborated.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897880"/>
            <a:ext cx="10241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F7E19"/>
                </a:solidFill>
                <a:latin typeface="Aptos"/>
              </a:rPr>
              <a:t>Operational limitation: local MISP TLS certificate verification was disabled during the documented tests.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28600"/>
            <a:ext cx="7772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8489"/>
                </a:solidFill>
                <a:latin typeface="Aptos"/>
              </a:rPr>
              <a:t>06 | NLP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21207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22A4A"/>
                </a:solidFill>
                <a:latin typeface="Aptos"/>
              </a:rPr>
              <a:t>Regex baseline outperformed GLiNER on the pilot gold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27080" cy="16459"/>
          </a:xfrm>
          <a:prstGeom prst="rect">
            <a:avLst/>
          </a:prstGeom>
          <a:solidFill>
            <a:srgbClr val="D3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D6D7E"/>
                </a:solidFill>
                <a:latin typeface="Aptos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508760"/>
            <a:ext cx="3840480" cy="475488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9344"/>
            <a:ext cx="3657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508760"/>
            <a:ext cx="2468880" cy="475488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609344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Regex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1508760"/>
            <a:ext cx="2468880" cy="475488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609344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GLiNER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984248"/>
            <a:ext cx="3840480" cy="475488"/>
          </a:xfrm>
          <a:prstGeom prst="rect">
            <a:avLst/>
          </a:prstGeom>
          <a:solidFill>
            <a:srgbClr val="EFF4F8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84831"/>
            <a:ext cx="3657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63342"/>
                </a:solidFill>
                <a:latin typeface="Aptos"/>
              </a:rPr>
              <a:t>True positives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984248"/>
            <a:ext cx="2468880" cy="475488"/>
          </a:xfrm>
          <a:prstGeom prst="rect">
            <a:avLst/>
          </a:prstGeom>
          <a:solidFill>
            <a:srgbClr val="EFF4F8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084831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263342"/>
                </a:solidFill>
                <a:latin typeface="Aptos"/>
              </a:rPr>
              <a:t>123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1984248"/>
            <a:ext cx="2468880" cy="475488"/>
          </a:xfrm>
          <a:prstGeom prst="rect">
            <a:avLst/>
          </a:prstGeom>
          <a:solidFill>
            <a:srgbClr val="EFF4F8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2084831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263342"/>
                </a:solidFill>
                <a:latin typeface="Aptos"/>
              </a:rPr>
              <a:t>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2459736"/>
            <a:ext cx="38404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560320"/>
            <a:ext cx="3657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63342"/>
                </a:solidFill>
                <a:latin typeface="Aptos"/>
              </a:rPr>
              <a:t>False positives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2459736"/>
            <a:ext cx="2468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2560320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263342"/>
                </a:solidFill>
                <a:latin typeface="Aptos"/>
              </a:rPr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2459736"/>
            <a:ext cx="2468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2560320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263342"/>
                </a:solidFill>
                <a:latin typeface="Aptos"/>
              </a:rPr>
              <a:t>29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2935224"/>
            <a:ext cx="3840480" cy="475488"/>
          </a:xfrm>
          <a:prstGeom prst="rect">
            <a:avLst/>
          </a:prstGeom>
          <a:solidFill>
            <a:srgbClr val="EFF4F8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035808"/>
            <a:ext cx="3657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63342"/>
                </a:solidFill>
                <a:latin typeface="Aptos"/>
              </a:rPr>
              <a:t>False negatives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2935224"/>
            <a:ext cx="2468880" cy="475488"/>
          </a:xfrm>
          <a:prstGeom prst="rect">
            <a:avLst/>
          </a:prstGeom>
          <a:solidFill>
            <a:srgbClr val="EFF4F8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3035808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263342"/>
                </a:solidFill>
                <a:latin typeface="Aptos"/>
              </a:rPr>
              <a:t>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2935224"/>
            <a:ext cx="2468880" cy="475488"/>
          </a:xfrm>
          <a:prstGeom prst="rect">
            <a:avLst/>
          </a:prstGeom>
          <a:solidFill>
            <a:srgbClr val="EFF4F8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0" y="3035808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263342"/>
                </a:solidFill>
                <a:latin typeface="Aptos"/>
              </a:rPr>
              <a:t>99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3410712"/>
            <a:ext cx="38404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3511296"/>
            <a:ext cx="3657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63342"/>
                </a:solidFill>
                <a:latin typeface="Aptos"/>
              </a:rPr>
              <a:t>Precision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0" y="3410712"/>
            <a:ext cx="2468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0" y="3511296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263342"/>
                </a:solidFill>
                <a:latin typeface="Aptos"/>
              </a:rPr>
              <a:t>95.35%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3410712"/>
            <a:ext cx="2468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0" y="3511296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263342"/>
                </a:solidFill>
                <a:latin typeface="Aptos"/>
              </a:rPr>
              <a:t>50.85%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3886200"/>
            <a:ext cx="3840480" cy="475488"/>
          </a:xfrm>
          <a:prstGeom prst="rect">
            <a:avLst/>
          </a:prstGeom>
          <a:solidFill>
            <a:srgbClr val="EFF4F8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3986784"/>
            <a:ext cx="3657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63342"/>
                </a:solidFill>
                <a:latin typeface="Aptos"/>
              </a:rPr>
              <a:t>Recall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880" y="3886200"/>
            <a:ext cx="2468880" cy="475488"/>
          </a:xfrm>
          <a:prstGeom prst="rect">
            <a:avLst/>
          </a:prstGeom>
          <a:solidFill>
            <a:srgbClr val="EFF4F8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6320" y="3986784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263342"/>
                </a:solidFill>
                <a:latin typeface="Aptos"/>
              </a:rPr>
              <a:t>95.35%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3886200"/>
            <a:ext cx="2468880" cy="475488"/>
          </a:xfrm>
          <a:prstGeom prst="rect">
            <a:avLst/>
          </a:prstGeom>
          <a:solidFill>
            <a:srgbClr val="EFF4F8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0" y="3986784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263342"/>
                </a:solidFill>
                <a:latin typeface="Aptos"/>
              </a:rPr>
              <a:t>23.26%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" y="4361688"/>
            <a:ext cx="38404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4462272"/>
            <a:ext cx="3657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63342"/>
                </a:solidFill>
                <a:latin typeface="Aptos"/>
              </a:rPr>
              <a:t>F1-score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0" y="4361688"/>
            <a:ext cx="2468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46320" y="4462272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008489"/>
                </a:solidFill>
                <a:latin typeface="Aptos"/>
              </a:rPr>
              <a:t>95.35%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23760" y="4361688"/>
            <a:ext cx="2468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0" y="4462272"/>
            <a:ext cx="2286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263342"/>
                </a:solidFill>
                <a:latin typeface="Aptos"/>
              </a:rPr>
              <a:t>31.91%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" y="5074920"/>
            <a:ext cx="8778240" cy="731520"/>
          </a:xfrm>
          <a:prstGeom prst="roundRect">
            <a:avLst/>
          </a:prstGeom>
          <a:solidFill>
            <a:srgbClr val="E2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7280" y="5230368"/>
            <a:ext cx="84124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22A4A"/>
                </a:solidFill>
                <a:latin typeface="Aptos"/>
              </a:rPr>
              <a:t>Five advisories • 129 normalized unique gold entity/label pairs • non-exhaustive pilot set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943600"/>
            <a:ext cx="102412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BF7E19"/>
                </a:solidFill>
                <a:latin typeface="Aptos"/>
              </a:rPr>
              <a:t>Metrics are pilot estimates—not production guarantees. Gold-set completeness and generalization remain limitations.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28600"/>
            <a:ext cx="7772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8489"/>
                </a:solidFill>
                <a:latin typeface="Aptos"/>
              </a:rPr>
              <a:t>07 | GENAI-ASSISTED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21207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22A4A"/>
                </a:solidFill>
                <a:latin typeface="Aptos"/>
              </a:rPr>
              <a:t>ASK CYRA: local retrieval-augmented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27080" cy="16459"/>
          </a:xfrm>
          <a:prstGeom prst="rect">
            <a:avLst/>
          </a:prstGeom>
          <a:solidFill>
            <a:srgbClr val="D3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D6D7E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26060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719072"/>
            <a:ext cx="2331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8489"/>
                </a:solidFill>
                <a:latin typeface="Aptos"/>
              </a:rPr>
              <a:t>KNOWLEDGE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57400"/>
            <a:ext cx="23317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22A4A"/>
                </a:solidFill>
                <a:latin typeface="Aptos"/>
              </a:rPr>
              <a:t>193 chunks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91256" y="1901952"/>
            <a:ext cx="228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008489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1554480"/>
            <a:ext cx="26060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1719072"/>
            <a:ext cx="2331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245684"/>
                </a:solidFill>
                <a:latin typeface="Aptos"/>
              </a:rPr>
              <a:t>RETRIEVAL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057400"/>
            <a:ext cx="23317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22A4A"/>
                </a:solidFill>
                <a:latin typeface="Aptos"/>
              </a:rPr>
              <a:t>MiniLM embeddings + FAISS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17336" y="1901952"/>
            <a:ext cx="228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008489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19088" y="1554480"/>
            <a:ext cx="26060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1719072"/>
            <a:ext cx="2331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BF7E19"/>
                </a:solidFill>
                <a:latin typeface="Aptos"/>
              </a:rPr>
              <a:t>LOCAL 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057400"/>
            <a:ext cx="23317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22A4A"/>
                </a:solidFill>
                <a:latin typeface="Aptos"/>
              </a:rPr>
              <a:t>Qwen2.5:3b via Ollama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3416" y="1901952"/>
            <a:ext cx="228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008489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45168" y="1554480"/>
            <a:ext cx="26060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82328" y="1719072"/>
            <a:ext cx="2331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8489"/>
                </a:solidFill>
                <a:latin typeface="Aptos"/>
              </a:rPr>
              <a:t>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82328" y="2057400"/>
            <a:ext cx="23317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22A4A"/>
                </a:solidFill>
                <a:latin typeface="Aptos"/>
              </a:rPr>
              <a:t>Evidence passages + references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063240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08489"/>
                </a:solidFill>
                <a:latin typeface="Aptos"/>
              </a:rPr>
              <a:t>Functional test: UAT-11985 campaign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520440"/>
            <a:ext cx="10241280" cy="1508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63342"/>
                </a:solidFill>
                <a:latin typeface="Aptos"/>
              </a:defRPr>
            </a:pPr>
            <a:r>
              <a:t>•  Retrieved the campaign analysis and generated a coherent summary of reported phishing behavior.</a:t>
            </a:r>
          </a:p>
          <a:p>
            <a:pPr>
              <a:spcAft>
                <a:spcPts val="800"/>
              </a:spcAft>
              <a:defRPr sz="1400">
                <a:solidFill>
                  <a:srgbClr val="263342"/>
                </a:solidFill>
                <a:latin typeface="Aptos"/>
              </a:defRPr>
            </a:pPr>
            <a:r>
              <a:t>•  Answer included source references; retrieval similarity is a ranking score, not factual confidence.</a:t>
            </a:r>
          </a:p>
          <a:p>
            <a:pPr>
              <a:spcAft>
                <a:spcPts val="800"/>
              </a:spcAft>
              <a:defRPr sz="1400">
                <a:solidFill>
                  <a:srgbClr val="263342"/>
                </a:solidFill>
                <a:latin typeface="Aptos"/>
              </a:defRPr>
            </a:pPr>
            <a:r>
              <a:t>•  No comprehensive answer-accuracy, citation-faithfulness or hallucination benchmark has been completed.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440680"/>
            <a:ext cx="103327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577840"/>
            <a:ext cx="9966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22A4A"/>
                </a:solidFill>
                <a:latin typeface="Aptos"/>
              </a:rPr>
              <a:t>Design intent: analyst assistance with evidence review—not autonomous threat decisions.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28600"/>
            <a:ext cx="7772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8489"/>
                </a:solidFill>
                <a:latin typeface="Aptos"/>
              </a:rPr>
              <a:t>08 | CAMPAIGN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21207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22A4A"/>
                </a:solidFill>
                <a:latin typeface="Aptos"/>
              </a:rPr>
              <a:t>UAT-11985: phishing case study from public Talos reporting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27080" cy="16459"/>
          </a:xfrm>
          <a:prstGeom prst="rect">
            <a:avLst/>
          </a:prstGeom>
          <a:solidFill>
            <a:srgbClr val="D3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D6D7E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64008" cy="123444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81912"/>
            <a:ext cx="295351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22A4A"/>
                </a:solidFill>
                <a:latin typeface="Aptos"/>
              </a:rPr>
              <a:t>8 source-reported entries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75104"/>
            <a:ext cx="2953512" cy="6309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D6D7E"/>
                </a:solidFill>
                <a:latin typeface="Aptos"/>
              </a:rPr>
              <a:t>Five URLs and three email addresses.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63040"/>
            <a:ext cx="64008" cy="1234440"/>
          </a:xfrm>
          <a:prstGeom prst="rect">
            <a:avLst/>
          </a:prstGeom>
          <a:solidFill>
            <a:srgbClr val="245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581912"/>
            <a:ext cx="295351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22A4A"/>
                </a:solidFill>
                <a:latin typeface="Aptos"/>
              </a:rPr>
              <a:t>Actor: unknown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75104"/>
            <a:ext cx="2953512" cy="6309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D6D7E"/>
                </a:solidFill>
                <a:latin typeface="Aptos"/>
              </a:rPr>
              <a:t>No supported actor attribution in the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463040"/>
            <a:ext cx="64008" cy="1234440"/>
          </a:xfrm>
          <a:prstGeom prst="rect">
            <a:avLst/>
          </a:prstGeom>
          <a:solidFill>
            <a:srgbClr val="BF7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581912"/>
            <a:ext cx="295351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22A4A"/>
                </a:solidFill>
                <a:latin typeface="Aptos"/>
              </a:rPr>
              <a:t>Status: unverified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975104"/>
            <a:ext cx="2953512" cy="6309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D6D7E"/>
                </a:solidFill>
                <a:latin typeface="Aptos"/>
              </a:rPr>
              <a:t>Indicators were not independently validated by the project.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154680"/>
            <a:ext cx="10241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08489"/>
                </a:solidFill>
                <a:latin typeface="Aptos"/>
              </a:rPr>
              <a:t>Reported behavior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566160"/>
            <a:ext cx="10149840" cy="1417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63342"/>
                </a:solidFill>
                <a:latin typeface="Aptos"/>
              </a:defRPr>
            </a:pPr>
            <a:r>
              <a:t>•  Phishing emails and fake Google sign-in pages.</a:t>
            </a:r>
          </a:p>
          <a:p>
            <a:pPr>
              <a:spcAft>
                <a:spcPts val="800"/>
              </a:spcAft>
              <a:defRPr sz="1500">
                <a:solidFill>
                  <a:srgbClr val="263342"/>
                </a:solidFill>
                <a:latin typeface="Aptos"/>
              </a:defRPr>
            </a:pPr>
            <a:r>
              <a:t>•  Obfuscated JavaScript, HTTP POST and WebSocket-based authentication/MFA state synchronization.</a:t>
            </a:r>
          </a:p>
          <a:p>
            <a:pPr>
              <a:spcAft>
                <a:spcPts val="800"/>
              </a:spcAft>
              <a:defRPr sz="1500">
                <a:solidFill>
                  <a:srgbClr val="263342"/>
                </a:solidFill>
                <a:latin typeface="Aptos"/>
              </a:defRPr>
            </a:pPr>
            <a:r>
              <a:t>•  Possible credential or session-token capture and account takeover.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394960"/>
            <a:ext cx="10332720" cy="621792"/>
          </a:xfrm>
          <a:prstGeom prst="roundRect">
            <a:avLst/>
          </a:prstGeom>
          <a:solidFill>
            <a:srgbClr val="EFF4F8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541264"/>
            <a:ext cx="9966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F7E19"/>
                </a:solidFill>
                <a:latin typeface="Aptos"/>
              </a:rPr>
              <a:t>ATT&amp;CK references: T1566.002 and T1557 • Not evidence of Indian-bank targeting or a lab attack.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28600"/>
            <a:ext cx="7772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8489"/>
                </a:solidFill>
                <a:latin typeface="Aptos"/>
              </a:rPr>
              <a:t>09 | INTEROPERABILITY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21207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22A4A"/>
                </a:solidFill>
                <a:latin typeface="Aptos"/>
              </a:rPr>
              <a:t>STIX 2.1 bundle passed structural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27080" cy="16459"/>
          </a:xfrm>
          <a:prstGeom prst="rect">
            <a:avLst/>
          </a:prstGeom>
          <a:solidFill>
            <a:srgbClr val="D3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D6D7E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37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673351"/>
            <a:ext cx="914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008489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810512"/>
            <a:ext cx="2057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22A4A"/>
                </a:solidFill>
                <a:latin typeface="Aptos"/>
              </a:rPr>
              <a:t>Identity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337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673351"/>
            <a:ext cx="914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245684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79" y="1810512"/>
            <a:ext cx="2057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22A4A"/>
                </a:solidFill>
                <a:latin typeface="Aptos"/>
              </a:rPr>
              <a:t>Campaign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08760"/>
            <a:ext cx="3337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1673351"/>
            <a:ext cx="914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BF7E19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1810512"/>
            <a:ext cx="2057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22A4A"/>
                </a:solidFill>
                <a:latin typeface="Aptos"/>
              </a:rPr>
              <a:t>Attack patterns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880360"/>
            <a:ext cx="3337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044952"/>
            <a:ext cx="914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008489"/>
                </a:solidFill>
                <a:latin typeface="Aptos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182112"/>
            <a:ext cx="2057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22A4A"/>
                </a:solidFill>
                <a:latin typeface="Aptos"/>
              </a:rPr>
              <a:t>Indicators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2880360"/>
            <a:ext cx="3337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8848" y="3044952"/>
            <a:ext cx="914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245684"/>
                </a:solidFill>
                <a:latin typeface="Apto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79" y="3182112"/>
            <a:ext cx="2057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22A4A"/>
                </a:solidFill>
                <a:latin typeface="Aptos"/>
              </a:rPr>
              <a:t>Relationships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880360"/>
            <a:ext cx="3337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044952"/>
            <a:ext cx="914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700" b="1">
                <a:solidFill>
                  <a:srgbClr val="BF7E19"/>
                </a:solidFill>
                <a:latin typeface="Apto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3182112"/>
            <a:ext cx="2057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22A4A"/>
                </a:solidFill>
                <a:latin typeface="Aptos"/>
              </a:rPr>
              <a:t>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526280"/>
            <a:ext cx="10241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08489"/>
                </a:solidFill>
                <a:latin typeface="Aptos"/>
              </a:rPr>
              <a:t>23 objects total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937760"/>
            <a:ext cx="102412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342"/>
                </a:solidFill>
                <a:latin typeface="Aptos"/>
              </a:defRPr>
            </a:pPr>
            <a:r>
              <a:t>•  Unique IDs and relationship references resolved in the structural validation.</a:t>
            </a:r>
          </a:p>
          <a:p>
            <a:pPr>
              <a:spcAft>
                <a:spcPts val="700"/>
              </a:spcAft>
              <a:defRPr sz="1400">
                <a:solidFill>
                  <a:srgbClr val="263342"/>
                </a:solidFill>
                <a:latin typeface="Aptos"/>
              </a:defRPr>
            </a:pPr>
            <a:r>
              <a:t>•  Structural consistency does not validate factual accuracy; all eight indicators remain unverified.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28600"/>
            <a:ext cx="7772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8489"/>
                </a:solidFill>
                <a:latin typeface="Aptos"/>
              </a:rPr>
              <a:t>10 | DEFENSIVE DETECTION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21207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22A4A"/>
                </a:solidFill>
                <a:latin typeface="Aptos"/>
              </a:rPr>
              <a:t>Controlled tests demonstrate rule logic—not production efficacy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27080" cy="16459"/>
          </a:xfrm>
          <a:prstGeom prst="rect">
            <a:avLst/>
          </a:prstGeom>
          <a:solidFill>
            <a:srgbClr val="D3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D6D7E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166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64008" cy="150876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27631"/>
            <a:ext cx="478231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22A4A"/>
                </a:solidFill>
                <a:latin typeface="Aptos"/>
              </a:rPr>
              <a:t>Sigma → Splunk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20824"/>
            <a:ext cx="4782312" cy="90525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D6D7E"/>
                </a:solidFill>
                <a:latin typeface="Aptos"/>
              </a:rPr>
              <a:t>Two rules passed synthetic searches: two domain matches and two email matches; benign controls were excluded.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08760"/>
            <a:ext cx="5166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08760"/>
            <a:ext cx="64008" cy="1508760"/>
          </a:xfrm>
          <a:prstGeom prst="rect">
            <a:avLst/>
          </a:prstGeom>
          <a:solidFill>
            <a:srgbClr val="245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627631"/>
            <a:ext cx="478231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22A4A"/>
                </a:solidFill>
                <a:latin typeface="Aptos"/>
              </a:rPr>
              <a:t>Wazuh 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020824"/>
            <a:ext cx="4782312" cy="90525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D6D7E"/>
                </a:solidFill>
                <a:latin typeface="Aptos"/>
              </a:rPr>
              <a:t>Synthetic SSH failure reached manager alert output; built-in rule 5710, severity 5, agent 001.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29000"/>
            <a:ext cx="10241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08489"/>
                </a:solidFill>
                <a:latin typeface="Aptos"/>
              </a:rPr>
              <a:t>Evidence 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840480"/>
            <a:ext cx="10149840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63342"/>
                </a:solidFill>
                <a:latin typeface="Aptos"/>
              </a:defRPr>
            </a:pPr>
            <a:r>
              <a:t>•  Splunk events were generated at search time and not persisted to an index.</a:t>
            </a:r>
          </a:p>
          <a:p>
            <a:pPr>
              <a:spcAft>
                <a:spcPts val="800"/>
              </a:spcAft>
              <a:defRPr sz="1500">
                <a:solidFill>
                  <a:srgbClr val="263342"/>
                </a:solidFill>
                <a:latin typeface="Aptos"/>
              </a:defRPr>
            </a:pPr>
            <a:r>
              <a:t>•  Wazuh test used a synthetic log line; no real attack was performed.</a:t>
            </a:r>
          </a:p>
          <a:p>
            <a:pPr>
              <a:spcAft>
                <a:spcPts val="800"/>
              </a:spcAft>
              <a:defRPr sz="1500">
                <a:solidFill>
                  <a:srgbClr val="263342"/>
                </a:solidFill>
                <a:latin typeface="Aptos"/>
              </a:defRPr>
            </a:pPr>
            <a:r>
              <a:t>•  No production proxy/email telemetry was tested, and the Wazuh rule was built-in rather than custom.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715000"/>
            <a:ext cx="10332720" cy="457200"/>
          </a:xfrm>
          <a:prstGeom prst="roundRect">
            <a:avLst/>
          </a:prstGeom>
          <a:solidFill>
            <a:srgbClr val="EFF4F8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815584"/>
            <a:ext cx="9966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22A4A"/>
                </a:solidFill>
                <a:latin typeface="Aptos"/>
              </a:rPr>
              <a:t>Tested safely in a controlled lab using documentation-only indicators and synthetic events.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28600"/>
            <a:ext cx="7772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08489"/>
                </a:solidFill>
                <a:latin typeface="Aptos"/>
              </a:rPr>
              <a:t>11 | CONCLUSION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21207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22A4A"/>
                </a:solidFill>
                <a:latin typeface="Aptos"/>
              </a:rPr>
              <a:t>A working educational CTI prototype with explicit evaluation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27080" cy="16459"/>
          </a:xfrm>
          <a:prstGeom prst="rect">
            <a:avLst/>
          </a:prstGeom>
          <a:solidFill>
            <a:srgbClr val="D3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5D6D7E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4892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008489"/>
                </a:solidFill>
                <a:latin typeface="Aptos"/>
              </a:rPr>
              <a:t>Demonstrated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892040" cy="2148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3342"/>
                </a:solidFill>
                <a:latin typeface="Aptos"/>
              </a:defRPr>
            </a:pPr>
            <a:r>
              <a:t>•  Public OSINT collection and normalization.</a:t>
            </a:r>
          </a:p>
          <a:p>
            <a:pPr>
              <a:spcAft>
                <a:spcPts val="700"/>
              </a:spcAft>
              <a:defRPr sz="1400">
                <a:solidFill>
                  <a:srgbClr val="263342"/>
                </a:solidFill>
                <a:latin typeface="Aptos"/>
              </a:defRPr>
            </a:pPr>
            <a:r>
              <a:t>•  MISP population and read-only audit.</a:t>
            </a:r>
          </a:p>
          <a:p>
            <a:pPr>
              <a:spcAft>
                <a:spcPts val="700"/>
              </a:spcAft>
              <a:defRPr sz="1400">
                <a:solidFill>
                  <a:srgbClr val="263342"/>
                </a:solidFill>
                <a:latin typeface="Aptos"/>
              </a:defRPr>
            </a:pPr>
            <a:r>
              <a:t>•  Pilot NLP comparison and local ASK CYRA RAG.</a:t>
            </a:r>
          </a:p>
          <a:p>
            <a:pPr>
              <a:spcAft>
                <a:spcPts val="700"/>
              </a:spcAft>
              <a:defRPr sz="1400">
                <a:solidFill>
                  <a:srgbClr val="263342"/>
                </a:solidFill>
                <a:latin typeface="Aptos"/>
              </a:defRPr>
            </a:pPr>
            <a:r>
              <a:t>•  Campaign analysis and STIX structure.</a:t>
            </a:r>
          </a:p>
          <a:p>
            <a:pPr>
              <a:spcAft>
                <a:spcPts val="700"/>
              </a:spcAft>
              <a:defRPr sz="1400">
                <a:solidFill>
                  <a:srgbClr val="263342"/>
                </a:solidFill>
                <a:latin typeface="Aptos"/>
              </a:defRPr>
            </a:pPr>
            <a:r>
              <a:t>•  Synthetic Sigma/Splunk and Wazuh tests.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417320"/>
            <a:ext cx="48920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245684"/>
                </a:solidFill>
                <a:latin typeface="Aptos"/>
              </a:rPr>
              <a:t>Priorities before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828800"/>
            <a:ext cx="4983480" cy="23774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63342"/>
                </a:solidFill>
                <a:latin typeface="Aptos"/>
              </a:defRPr>
            </a:pPr>
            <a:r>
              <a:t>•  Review all source terms and references.</a:t>
            </a:r>
          </a:p>
          <a:p>
            <a:pPr>
              <a:spcAft>
                <a:spcPts val="600"/>
              </a:spcAft>
              <a:defRPr sz="1400">
                <a:solidFill>
                  <a:srgbClr val="263342"/>
                </a:solidFill>
                <a:latin typeface="Aptos"/>
              </a:defRPr>
            </a:pPr>
            <a:r>
              <a:t>•  Fix local MISP TLS verification.</a:t>
            </a:r>
          </a:p>
          <a:p>
            <a:pPr>
              <a:spcAft>
                <a:spcPts val="600"/>
              </a:spcAft>
              <a:defRPr sz="1400">
                <a:solidFill>
                  <a:srgbClr val="263342"/>
                </a:solidFill>
                <a:latin typeface="Aptos"/>
              </a:defRPr>
            </a:pPr>
            <a:r>
              <a:t>•  Expand gold-set and RAG evaluation.</a:t>
            </a:r>
          </a:p>
          <a:p>
            <a:pPr>
              <a:spcAft>
                <a:spcPts val="600"/>
              </a:spcAft>
              <a:defRPr sz="1400">
                <a:solidFill>
                  <a:srgbClr val="263342"/>
                </a:solidFill>
                <a:latin typeface="Aptos"/>
              </a:defRPr>
            </a:pPr>
            <a:r>
              <a:t>•  Validate rules on authorized indexed telemetry.</a:t>
            </a:r>
          </a:p>
          <a:p>
            <a:pPr>
              <a:spcAft>
                <a:spcPts val="600"/>
              </a:spcAft>
              <a:defRPr sz="1400">
                <a:solidFill>
                  <a:srgbClr val="263342"/>
                </a:solidFill>
                <a:latin typeface="Aptos"/>
              </a:defRPr>
            </a:pPr>
            <a:r>
              <a:t>•  Check deliverables and remove secrets.</a:t>
            </a:r>
          </a:p>
          <a:p>
            <a:pPr>
              <a:spcAft>
                <a:spcPts val="600"/>
              </a:spcAft>
              <a:defRPr sz="1400">
                <a:solidFill>
                  <a:srgbClr val="263342"/>
                </a:solidFill>
                <a:latin typeface="Aptos"/>
              </a:defRPr>
            </a:pPr>
            <a:r>
              <a:t>•  Rehearse and record the 15-minute video.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709160"/>
            <a:ext cx="10332720" cy="960120"/>
          </a:xfrm>
          <a:prstGeom prst="round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910328"/>
            <a:ext cx="97840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Final takeaway: traceable intelligence, evidence-led analysis and controlled validation—without claiming production readiness.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989320"/>
            <a:ext cx="10241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08489"/>
                </a:solidFill>
                <a:latin typeface="Aptos"/>
              </a:rPr>
              <a:t>Thank you  | 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